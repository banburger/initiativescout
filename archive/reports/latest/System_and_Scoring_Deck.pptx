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System &amp; Scoring Walkthrough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explainability deck for pipeline logic, scoring mechanics, and current output quality.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Purpose: </a:t>
            </a:r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Make the current system and scoring behavior understandable end-to-end.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Scope: </a:t>
            </a:r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Base scoring, lens rankings, DD model, gate behavior, and visible quality limits.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Dataset snapshot: </a:t>
            </a:r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</a:rPr>
              <a:t>287 initiatives, 287 base scores, 287 DD scores.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this deck as an explainability artifact, not a marketing document.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from ingestion to explainable outputs (`run-all` and `run-dd`).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seed-from-markdown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517904" y="1344168"/>
            <a:ext cx="164592" cy="201168"/>
          </a:xfrm>
          <a:prstGeom prst="chevron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64208" y="109728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37360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scrape-directories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24912" y="1344168"/>
            <a:ext cx="164592" cy="201168"/>
          </a:xfrm>
          <a:prstGeom prst="chevron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1216" y="109728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44368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enrich-websites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31920" y="1344168"/>
            <a:ext cx="164592" cy="201168"/>
          </a:xfrm>
          <a:prstGeom prst="chevron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78224" y="109728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51376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ingest-people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38928" y="1344168"/>
            <a:ext cx="164592" cy="201168"/>
          </a:xfrm>
          <a:prstGeom prst="chevron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85232" y="109728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58384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score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345936" y="1344168"/>
            <a:ext cx="164592" cy="201168"/>
          </a:xfrm>
          <a:prstGeom prst="chevron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109728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65392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rank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552944" y="1344168"/>
            <a:ext cx="164592" cy="201168"/>
          </a:xfrm>
          <a:prstGeom prst="chevron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99248" y="109728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13441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export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194560"/>
            <a:ext cx="83210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24871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DD extension: collect-github + collect-dd-public + dd-score + dd-gate + dd-rank + dd-report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1480" y="3383280"/>
            <a:ext cx="8321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5478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Primary artifacts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800" y="37673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data/exports/initiatives_master.json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5800" y="40050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data/exports/score_explanations.json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85800" y="42428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data/exports/top_outreach_targets.json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26280" y="37673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data/exports/top_venture_upside.json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26280" y="40050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data/exports/dd_scores.json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26280" y="42428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data/exports/dd_gates.json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Data Coverage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and distribution in the current exported snapshot.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005840"/>
            <a:ext cx="19385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234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F7A"/>
                </a:solidFill>
              </a:rPr>
              <a:t>287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" y="15819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C7B"/>
                </a:solidFill>
              </a:rPr>
              <a:t>Total initiatives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005840"/>
            <a:ext cx="19385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97480" y="1234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F7A"/>
                </a:solidFill>
              </a:rPr>
              <a:t>287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697480" y="15819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C7B"/>
                </a:solidFill>
              </a:rPr>
              <a:t>Legacy scoring rows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19385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234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F7A"/>
                </a:solidFill>
              </a:rPr>
              <a:t>287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800600" y="15819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C7B"/>
                </a:solidFill>
              </a:rPr>
              <a:t>DD scoring rows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12280" y="1005840"/>
            <a:ext cx="19385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1234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F7A"/>
                </a:solidFill>
              </a:rPr>
              <a:t>77.7%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03720" y="15819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C7B"/>
                </a:solidFill>
              </a:rPr>
              <a:t>Summary coverage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194560"/>
            <a:ext cx="822960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3957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F7A"/>
                </a:solidFill>
              </a:rPr>
              <a:t>University distribution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27614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TUM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737360" y="2788920"/>
            <a:ext cx="5120640" cy="146304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37360" y="2788920"/>
            <a:ext cx="5120640" cy="146304"/>
          </a:xfrm>
          <a:prstGeom prst="rect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95160" y="273405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204 (71.1%)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" y="32644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LMU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737360" y="3291840"/>
            <a:ext cx="5120640" cy="146304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37360" y="3291840"/>
            <a:ext cx="1154654" cy="146304"/>
          </a:xfrm>
          <a:prstGeom prst="rect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95160" y="323697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46 (16.0%)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" y="3767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HM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737360" y="3794760"/>
            <a:ext cx="5120640" cy="146304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737360" y="3794760"/>
            <a:ext cx="928744" cy="146304"/>
          </a:xfrm>
          <a:prstGeom prst="rect">
            <a:avLst/>
          </a:prstGeom>
          <a:solidFill>
            <a:srgbClr val="1E7D73"/>
          </a:solidFill>
          <a:ln w="12700">
            <a:solidFill>
              <a:srgbClr val="1E7D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95160" y="373989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37 (12.9%)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Scoring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dimensions, weights, and lens formulations.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Core dimensions (1-5 scale)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2377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1. tech_depth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144475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D73"/>
                </a:solidFill>
              </a:rPr>
              <a:t>30.0%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92224"/>
            <a:ext cx="2377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2. team_strength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1792224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D73"/>
                </a:solidFill>
              </a:rPr>
              <a:t>25.0%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39696"/>
            <a:ext cx="2377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3. market_opportunity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2139696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D73"/>
                </a:solidFill>
              </a:rPr>
              <a:t>25.0%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87168"/>
            <a:ext cx="2377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4. maturity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48716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D73"/>
                </a:solidFill>
              </a:rPr>
              <a:t>20.0%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F7A"/>
                </a:solidFill>
              </a:rPr>
              <a:t>Composite formula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2735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Composite = tech_depth*0.30 + team_strength*0.25 + market_opportunity*0.25 + maturity*0.20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11480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155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Lens formulas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44475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Outreach: Outreach = 0.30*actionability + 0.20*team + 0.20*market + 0.15*tech + 0.15*support_fit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0848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Venture upside: Upside = 0.35*tech + 0.25*market + 0.20*team + 0.10*maturity + 0.10*support_fit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834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F7A"/>
                </a:solidFill>
              </a:rPr>
              <a:t>Configured lens weights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08152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B1F33"/>
                </a:solidFill>
              </a:rPr>
              <a:t>Outreach: actionability_0_6m: 30.0% | team_strength: 20.0% | market_opportunity: 20.0% | tech_depth: 15.0% | support_fit: 15.0%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B1F33"/>
                </a:solidFill>
              </a:rPr>
              <a:t>Upside: tech_depth: 35.0% | market_opportunity: 25.0% | team_strength: 20.0% | maturity: 10.0% | support_fit: 10.0%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Mechanics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evidence, confidence, and seed bridges influence scores.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• Deterministic, evidence-backed component scoring with explicit weighted contributions.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• Evidence quality scales component value and confidence before aggregation.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• Core scoring: non-seed components without evidence are set to 0 contribution.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• Seed bridge cap: 40% max influence per core dimension.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• DD no-evidence behavior: no-evidence floor=1 with confidence penalty=0.12.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• Confidence is dimension-weighted and should be read alongside raw score values.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587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73"/>
                </a:solidFill>
              </a:rPr>
              <a:t>Practical interpretation: score + confidence + evidence references are the minimum decision trio.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Lens Outputs (Top 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Outreach-now and venture-upside are different prioritization lenses.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406908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914400"/>
            <a:ext cx="406908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Outreach targets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10972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Venture upside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1. PushQuantum (4.088)  M:4.30 T:3.75 S:3.61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2. Strascheg Center for Entrepreneurship (SCE) (3.857)  M:4.04 T:3.24 S:3.81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3. Enactus Straubing (3.505)  M:2.94 T:3.34 S:2.95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4. Electrochemical Society Student Chapter Munich (3.496)  M:4.68 T:2.68 S:4.15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5. START Munich (3.380)  M:2.34 T:4.08 S:2.74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73752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1. Electrochemical Society Student Chapter Munich (3.867)  T:4.34 M:4.68 Team:2.68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3752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2. PushQuantum (3.695)  T:3.64 M:4.30 Team:3.75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73752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3. Strascheg Center for Entrepreneurship (SCE) (3.635)  T:3.65 M:4.04 Team:3.24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73752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4. Ringvorlesung Umwelt (3.484)  T:4.42 M:3.53 Team:2.21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3752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5. WARR (Wissenschaftliche Arbeitsgruppe für Raketentechnik und Raumfahrt) (3.314)  T:3.85 M:2.38 Team:3.53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8321040" cy="530352"/>
          </a:xfrm>
          <a:prstGeom prst="roundRect">
            <a:avLst>
              <a:gd name="adj" fmla="val 6897"/>
            </a:avLst>
          </a:prstGeom>
          <a:solidFill>
            <a:srgbClr val="E8EEF3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3708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3"/>
                </a:solidFill>
              </a:rPr>
              <a:t>Example component context (current #1 outreach): market_opportunity.problem_solution_signals=2.000 (conf 0.38) | tech_depth.technology_keyword_density=1.575 (conf 0.68) | actionability_0_6m.contactability=1.441 (conf 0.84)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 Scoring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Conviction blends DD dimensions with confidence-aware weighting.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406908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914400"/>
            <a:ext cx="406908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Conviction weights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team_dd: 32.0%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556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tech_dd: 28.0%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665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market_dd: 25.0%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execution_dd: 10.0%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883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</a:rPr>
              <a:t>legal_dd: 5.0%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F7A"/>
                </a:solidFill>
              </a:rPr>
              <a:t>Current conviction distribution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Score min/p50/max: 1.00 / 1.21 / 1.96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593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Confidence min/p50/max: 0.12 / 0.73 / 0.79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0972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Component groups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356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• team_dd: tech_skill_fit, product_skill_fit, sales_skill_fit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7830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• tech_dd: quality, performance, scalability, moat_signal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1305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• market_dd: validation_stage, icp_pricing_clarity, sales_cycle_realism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478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• execution_dd: tech_outcomes, market_outcomes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8254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• legal_dd: entity_ip_basics, compliance_risk_penalty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2461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F7A"/>
                </a:solidFill>
              </a:rPr>
              <a:t>Market validation stages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</a:rPr>
              <a:t>none (237) | paid_pilot (46) | repeat_revenue (4)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 Gates A–D (Configured Thresholds)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logic is threshold-driven and evidence-sensitive.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914400"/>
            <a:ext cx="832104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234440"/>
            <a:ext cx="77266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426464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A: team_dd&gt;=3.2, team_tech_fit&gt;=3.5, named_operators&gt;=2, technical_leads&gt;=1, qualifying_evidence&gt;=2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85800" y="2020824"/>
            <a:ext cx="7726680" cy="658368"/>
          </a:xfrm>
          <a:prstGeom prst="roundRect">
            <a:avLst>
              <a:gd name="adj" fmla="val 5556"/>
            </a:avLst>
          </a:prstGeom>
          <a:solidFill>
            <a:srgbClr val="E8EEF3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212848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B: tech_dd&gt;=3, source_classes&gt;=2, qualifying_evidence&gt;=2, require_hard_proof=true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2807208"/>
            <a:ext cx="77266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99232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C: market_dd&gt;=3, min_stage=loi, source_classes&gt;=2, qualifying_evidence&gt;=2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3593592"/>
            <a:ext cx="7726680" cy="658368"/>
          </a:xfrm>
          <a:prstGeom prst="roundRect">
            <a:avLst>
              <a:gd name="adj" fmla="val 5556"/>
            </a:avLst>
          </a:prstGeom>
          <a:solidFill>
            <a:srgbClr val="E8EEF3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785616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D: legal_dd&gt;=2.5, require_entity_known=true, require_ip_known=true, max_legal_risk&lt;=3.5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Gate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rates and dominant blockers in the current dataset.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7764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914400"/>
            <a:ext cx="420624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97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Pass rates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Gate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1490472"/>
            <a:ext cx="2286000" cy="146304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490472"/>
            <a:ext cx="0" cy="1463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68249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</a:rPr>
              <a:t>0.0% (0/287)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Gate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148840"/>
            <a:ext cx="2286000" cy="146304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148840"/>
            <a:ext cx="0" cy="1463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340864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</a:rPr>
              <a:t>0.0% (0/287)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27797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Gate 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54480" y="2807208"/>
            <a:ext cx="2286000" cy="146304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2807208"/>
            <a:ext cx="0" cy="1463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99923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</a:rPr>
              <a:t>0.0% (0/287)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4381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Gate 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54480" y="3465576"/>
            <a:ext cx="2286000" cy="146304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465576"/>
            <a:ext cx="0" cy="1463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6576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</a:rPr>
              <a:t>0.0% (0/287)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0972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Top blockers by 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4356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A: team_dd_below_threshold (287)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7465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B: tech_dd_below_threshold (287)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0574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C: insufficient_source_diversity (287)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3682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</a:rPr>
              <a:t>Gate D: ip_unknown (286)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063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</a:rPr>
              <a:t>Current state: all gates are at 0% pass rate. Interpret DD outputs primarily as blocker diagnostics.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 Quality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output artifacts that require cautious interpretation.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914400"/>
            <a:ext cx="832104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0972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Examples of ranking noise in top operators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417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1. About Us (score 4.57, keyword "about")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19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2. Social Media (score 4.57, keyword "social media")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02082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3. Privacy Policy (score 4.57, keyword "privacy")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32257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4. Technical University (score 4.57, keyword "technical university")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624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5. Facebook Instagram (score 4.48, keyword "facebook")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29260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6. Contact Us (score 4.30, keyword "contact")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8368" y="34015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F7A"/>
                </a:solidFill>
              </a:rPr>
              <a:t>Interpretation guidance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360273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3"/>
                </a:solidFill>
              </a:rPr>
              <a:t>• All DD gates currently show a 0% pass rate. Treat DD output as diagnostic, not investability proof.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685800" y="384962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3"/>
                </a:solidFill>
              </a:rPr>
              <a:t>• Operator ranking currently includes navigation/legal page terms, indicating extraction noise.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685800" y="409651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3"/>
                </a:solidFill>
              </a:rPr>
              <a:t>• Use score explanations and confidence jointly before taking ranking-driven actions.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&amp; Use the Scores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workflow for decision support with current system constraints.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914400"/>
            <a:ext cx="411480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17720" y="914400"/>
            <a:ext cx="411480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097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Recommended reading order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" y="140817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3"/>
                </a:solidFill>
              </a:rPr>
              <a:t>1. Start with outreach/upside top lists.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94944" y="17922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3"/>
                </a:solidFill>
              </a:rPr>
              <a:t>2. Open score explanations for component-level evidence.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94944" y="217627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3"/>
                </a:solidFill>
              </a:rPr>
              <a:t>3. Validate confidence before prioritizing action.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4944" y="25603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3"/>
                </a:solidFill>
              </a:rPr>
              <a:t>4. Use DD gates to identify concrete blockers.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94944" y="29443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3"/>
                </a:solidFill>
              </a:rPr>
              <a:t>5. Treat zero-pass gate states as a calibration signal.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73752" y="10972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7A"/>
                </a:solidFill>
              </a:rPr>
              <a:t>Operational caveats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4081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Current DD gate pass rates are 0% across A/B/C/D.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73752" y="17922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Operator ranking currently contains extraction noise.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73752" y="2176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Use rankings as triage signals, not standalone decisions.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73752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</a:rPr>
              <a:t>• Calibration and source-quality improvements should precede high-stakes use.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73752" y="349300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C7B"/>
                </a:solidFill>
              </a:rPr>
              <a:t>Build command: node scripts/build_system_scoring_deck.js --out /Users/bastianburger/Repos/UnicornInitiative/reports/latest/System_and_Scoring_Deck.pptx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2026-02-16 · Generated 2026-02-18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UnicornInitiative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System &amp; Scoring Walkthrough</dc:title>
  <dc:subject>System and scoring explainability</dc:subject>
  <dc:creator>UnicornInitiative</dc:creator>
  <cp:lastModifiedBy>UnicornInitiative</cp:lastModifiedBy>
  <cp:revision>1</cp:revision>
  <dcterms:created xsi:type="dcterms:W3CDTF">2026-02-18T08:22:49Z</dcterms:created>
  <dcterms:modified xsi:type="dcterms:W3CDTF">2026-02-18T08:22:49Z</dcterms:modified>
</cp:coreProperties>
</file>